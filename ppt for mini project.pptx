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8F3ED3E-3BC2-4ED3-867D-DE66DA301F7A}" type="datetimeFigureOut">
              <a:rPr lang="en-IN" smtClean="0"/>
              <a:t>25-02-2026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8D60C371-CFB2-455D-A1E5-6F8E6CBE05D3}" type="slidenum">
              <a:rPr lang="en-IN" smtClean="0"/>
              <a:t>‹#›</a:t>
            </a:fld>
            <a:endParaRPr lang="en-IN"/>
          </a:p>
        </p:txBody>
      </p:sp>
    </p:spTree>
    <p:extLst>
      <p:ext uri="{BB962C8B-B14F-4D97-AF65-F5344CB8AC3E}">
        <p14:creationId xmlns:p14="http://schemas.microsoft.com/office/powerpoint/2010/main" val="17402099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F3ED3E-3BC2-4ED3-867D-DE66DA301F7A}" type="datetimeFigureOut">
              <a:rPr lang="en-IN" smtClean="0"/>
              <a:t>25-02-2026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D60C371-CFB2-455D-A1E5-6F8E6CBE05D3}" type="slidenum">
              <a:rPr lang="en-IN" smtClean="0"/>
              <a:t>‹#›</a:t>
            </a:fld>
            <a:endParaRPr lang="en-IN"/>
          </a:p>
        </p:txBody>
      </p:sp>
    </p:spTree>
    <p:extLst>
      <p:ext uri="{BB962C8B-B14F-4D97-AF65-F5344CB8AC3E}">
        <p14:creationId xmlns:p14="http://schemas.microsoft.com/office/powerpoint/2010/main" val="2273450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8F3ED3E-3BC2-4ED3-867D-DE66DA301F7A}" type="datetimeFigureOut">
              <a:rPr lang="en-IN" smtClean="0"/>
              <a:t>25-02-2026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D60C371-CFB2-455D-A1E5-6F8E6CBE05D3}" type="slidenum">
              <a:rPr lang="en-IN" smtClean="0"/>
              <a:t>‹#›</a:t>
            </a:fld>
            <a:endParaRPr lang="en-IN"/>
          </a:p>
        </p:txBody>
      </p:sp>
    </p:spTree>
    <p:extLst>
      <p:ext uri="{BB962C8B-B14F-4D97-AF65-F5344CB8AC3E}">
        <p14:creationId xmlns:p14="http://schemas.microsoft.com/office/powerpoint/2010/main" val="3859670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8F3ED3E-3BC2-4ED3-867D-DE66DA301F7A}" type="datetimeFigureOut">
              <a:rPr lang="en-IN" smtClean="0"/>
              <a:t>25-02-2026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8D60C371-CFB2-455D-A1E5-6F8E6CBE05D3}" type="slidenum">
              <a:rPr lang="en-IN" smtClean="0"/>
              <a:t>‹#›</a:t>
            </a:fld>
            <a:endParaRPr lang="en-IN"/>
          </a:p>
        </p:txBody>
      </p:sp>
    </p:spTree>
    <p:extLst>
      <p:ext uri="{BB962C8B-B14F-4D97-AF65-F5344CB8AC3E}">
        <p14:creationId xmlns:p14="http://schemas.microsoft.com/office/powerpoint/2010/main" val="97051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8F3ED3E-3BC2-4ED3-867D-DE66DA301F7A}" type="datetimeFigureOut">
              <a:rPr lang="en-IN" smtClean="0"/>
              <a:t>25-02-2026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8D60C371-CFB2-455D-A1E5-6F8E6CBE05D3}" type="slidenum">
              <a:rPr lang="en-IN" smtClean="0"/>
              <a:t>‹#›</a:t>
            </a:fld>
            <a:endParaRPr lang="en-IN"/>
          </a:p>
        </p:txBody>
      </p:sp>
    </p:spTree>
    <p:extLst>
      <p:ext uri="{BB962C8B-B14F-4D97-AF65-F5344CB8AC3E}">
        <p14:creationId xmlns:p14="http://schemas.microsoft.com/office/powerpoint/2010/main" val="29575650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8F3ED3E-3BC2-4ED3-867D-DE66DA301F7A}" type="datetimeFigureOut">
              <a:rPr lang="en-IN" smtClean="0"/>
              <a:t>25-02-2026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8D60C371-CFB2-455D-A1E5-6F8E6CBE05D3}" type="slidenum">
              <a:rPr lang="en-IN" smtClean="0"/>
              <a:t>‹#›</a:t>
            </a:fld>
            <a:endParaRPr lang="en-IN"/>
          </a:p>
        </p:txBody>
      </p:sp>
    </p:spTree>
    <p:extLst>
      <p:ext uri="{BB962C8B-B14F-4D97-AF65-F5344CB8AC3E}">
        <p14:creationId xmlns:p14="http://schemas.microsoft.com/office/powerpoint/2010/main" val="2689596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F3ED3E-3BC2-4ED3-867D-DE66DA301F7A}" type="datetimeFigureOut">
              <a:rPr lang="en-IN" smtClean="0"/>
              <a:t>25-02-2026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8D60C371-CFB2-455D-A1E5-6F8E6CBE05D3}" type="slidenum">
              <a:rPr lang="en-IN" smtClean="0"/>
              <a:t>‹#›</a:t>
            </a:fld>
            <a:endParaRPr lang="en-IN"/>
          </a:p>
        </p:txBody>
      </p:sp>
    </p:spTree>
    <p:extLst>
      <p:ext uri="{BB962C8B-B14F-4D97-AF65-F5344CB8AC3E}">
        <p14:creationId xmlns:p14="http://schemas.microsoft.com/office/powerpoint/2010/main" val="1777589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8F3ED3E-3BC2-4ED3-867D-DE66DA301F7A}" type="datetimeFigureOut">
              <a:rPr lang="en-IN" smtClean="0"/>
              <a:t>25-02-2026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8D60C371-CFB2-455D-A1E5-6F8E6CBE05D3}" type="slidenum">
              <a:rPr lang="en-IN" smtClean="0"/>
              <a:t>‹#›</a:t>
            </a:fld>
            <a:endParaRPr lang="en-IN"/>
          </a:p>
        </p:txBody>
      </p:sp>
    </p:spTree>
    <p:extLst>
      <p:ext uri="{BB962C8B-B14F-4D97-AF65-F5344CB8AC3E}">
        <p14:creationId xmlns:p14="http://schemas.microsoft.com/office/powerpoint/2010/main" val="7299467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8F3ED3E-3BC2-4ED3-867D-DE66DA301F7A}" type="datetimeFigureOut">
              <a:rPr lang="en-IN" smtClean="0"/>
              <a:t>25-02-2026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D60C371-CFB2-455D-A1E5-6F8E6CBE05D3}" type="slidenum">
              <a:rPr lang="en-IN" smtClean="0"/>
              <a:t>‹#›</a:t>
            </a:fld>
            <a:endParaRPr lang="en-IN"/>
          </a:p>
        </p:txBody>
      </p:sp>
    </p:spTree>
    <p:extLst>
      <p:ext uri="{BB962C8B-B14F-4D97-AF65-F5344CB8AC3E}">
        <p14:creationId xmlns:p14="http://schemas.microsoft.com/office/powerpoint/2010/main" val="35346370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8F3ED3E-3BC2-4ED3-867D-DE66DA301F7A}" type="datetimeFigureOut">
              <a:rPr lang="en-IN" smtClean="0"/>
              <a:t>25-02-2026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D60C371-CFB2-455D-A1E5-6F8E6CBE05D3}" type="slidenum">
              <a:rPr lang="en-IN" smtClean="0"/>
              <a:t>‹#›</a:t>
            </a:fld>
            <a:endParaRPr lang="en-IN"/>
          </a:p>
        </p:txBody>
      </p:sp>
    </p:spTree>
    <p:extLst>
      <p:ext uri="{BB962C8B-B14F-4D97-AF65-F5344CB8AC3E}">
        <p14:creationId xmlns:p14="http://schemas.microsoft.com/office/powerpoint/2010/main" val="1573783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8F3ED3E-3BC2-4ED3-867D-DE66DA301F7A}" type="datetimeFigureOut">
              <a:rPr lang="en-IN" smtClean="0"/>
              <a:t>25-02-2026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D60C371-CFB2-455D-A1E5-6F8E6CBE05D3}"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996892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F8F3ED3E-3BC2-4ED3-867D-DE66DA301F7A}" type="datetimeFigureOut">
              <a:rPr lang="en-IN" smtClean="0"/>
              <a:t>25-02-2026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D60C371-CFB2-455D-A1E5-6F8E6CBE05D3}" type="slidenum">
              <a:rPr lang="en-IN" smtClean="0"/>
              <a:t>‹#›</a:t>
            </a:fld>
            <a:endParaRPr lang="en-IN"/>
          </a:p>
        </p:txBody>
      </p:sp>
    </p:spTree>
    <p:extLst>
      <p:ext uri="{BB962C8B-B14F-4D97-AF65-F5344CB8AC3E}">
        <p14:creationId xmlns:p14="http://schemas.microsoft.com/office/powerpoint/2010/main" val="37609289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F8F3ED3E-3BC2-4ED3-867D-DE66DA301F7A}" type="datetimeFigureOut">
              <a:rPr lang="en-IN" smtClean="0"/>
              <a:t>25-02-2026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D60C371-CFB2-455D-A1E5-6F8E6CBE05D3}"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4573315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F8F3ED3E-3BC2-4ED3-867D-DE66DA301F7A}" type="datetimeFigureOut">
              <a:rPr lang="en-IN" smtClean="0"/>
              <a:t>25-02-2026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D60C371-CFB2-455D-A1E5-6F8E6CBE05D3}" type="slidenum">
              <a:rPr lang="en-IN" smtClean="0"/>
              <a:t>‹#›</a:t>
            </a:fld>
            <a:endParaRPr lang="en-IN"/>
          </a:p>
        </p:txBody>
      </p:sp>
    </p:spTree>
    <p:extLst>
      <p:ext uri="{BB962C8B-B14F-4D97-AF65-F5344CB8AC3E}">
        <p14:creationId xmlns:p14="http://schemas.microsoft.com/office/powerpoint/2010/main" val="28592349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F3ED3E-3BC2-4ED3-867D-DE66DA301F7A}" type="datetimeFigureOut">
              <a:rPr lang="en-IN" smtClean="0"/>
              <a:t>25-02-2026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D60C371-CFB2-455D-A1E5-6F8E6CBE05D3}" type="slidenum">
              <a:rPr lang="en-IN" smtClean="0"/>
              <a:t>‹#›</a:t>
            </a:fld>
            <a:endParaRPr lang="en-IN"/>
          </a:p>
        </p:txBody>
      </p:sp>
    </p:spTree>
    <p:extLst>
      <p:ext uri="{BB962C8B-B14F-4D97-AF65-F5344CB8AC3E}">
        <p14:creationId xmlns:p14="http://schemas.microsoft.com/office/powerpoint/2010/main" val="41981762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F3ED3E-3BC2-4ED3-867D-DE66DA301F7A}" type="datetimeFigureOut">
              <a:rPr lang="en-IN" smtClean="0"/>
              <a:t>25-02-2026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D60C371-CFB2-455D-A1E5-6F8E6CBE05D3}" type="slidenum">
              <a:rPr lang="en-IN" smtClean="0"/>
              <a:t>‹#›</a:t>
            </a:fld>
            <a:endParaRPr lang="en-IN"/>
          </a:p>
        </p:txBody>
      </p:sp>
    </p:spTree>
    <p:extLst>
      <p:ext uri="{BB962C8B-B14F-4D97-AF65-F5344CB8AC3E}">
        <p14:creationId xmlns:p14="http://schemas.microsoft.com/office/powerpoint/2010/main" val="20506186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F8F3ED3E-3BC2-4ED3-867D-DE66DA301F7A}" type="datetimeFigureOut">
              <a:rPr lang="en-IN" smtClean="0"/>
              <a:t>25-02-2026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8D60C371-CFB2-455D-A1E5-6F8E6CBE05D3}" type="slidenum">
              <a:rPr lang="en-IN" smtClean="0"/>
              <a:t>‹#›</a:t>
            </a:fld>
            <a:endParaRPr lang="en-IN"/>
          </a:p>
        </p:txBody>
      </p:sp>
    </p:spTree>
    <p:extLst>
      <p:ext uri="{BB962C8B-B14F-4D97-AF65-F5344CB8AC3E}">
        <p14:creationId xmlns:p14="http://schemas.microsoft.com/office/powerpoint/2010/main" val="11647737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6DD95-62F0-4DB2-BC03-A7D32409C84A}"/>
              </a:ext>
            </a:extLst>
          </p:cNvPr>
          <p:cNvSpPr>
            <a:spLocks noGrp="1"/>
          </p:cNvSpPr>
          <p:nvPr>
            <p:ph type="ctrTitle"/>
          </p:nvPr>
        </p:nvSpPr>
        <p:spPr/>
        <p:txBody>
          <a:bodyPr/>
          <a:lstStyle/>
          <a:p>
            <a:r>
              <a:rPr lang="en-US" dirty="0"/>
              <a:t>Grocery Sales Data Analysis Dashboard</a:t>
            </a:r>
            <a:endParaRPr lang="en-IN" dirty="0"/>
          </a:p>
        </p:txBody>
      </p:sp>
      <p:sp>
        <p:nvSpPr>
          <p:cNvPr id="3" name="Subtitle 2">
            <a:extLst>
              <a:ext uri="{FF2B5EF4-FFF2-40B4-BE49-F238E27FC236}">
                <a16:creationId xmlns:a16="http://schemas.microsoft.com/office/drawing/2014/main" id="{1B9726CC-00EE-4D6A-98A9-98E00A621080}"/>
              </a:ext>
            </a:extLst>
          </p:cNvPr>
          <p:cNvSpPr>
            <a:spLocks noGrp="1"/>
          </p:cNvSpPr>
          <p:nvPr>
            <p:ph type="subTitle" idx="1"/>
          </p:nvPr>
        </p:nvSpPr>
        <p:spPr/>
        <p:txBody>
          <a:bodyPr/>
          <a:lstStyle/>
          <a:p>
            <a:r>
              <a:rPr lang="en-IN" dirty="0"/>
              <a:t>Mini Project Presentation</a:t>
            </a:r>
          </a:p>
        </p:txBody>
      </p:sp>
    </p:spTree>
    <p:extLst>
      <p:ext uri="{BB962C8B-B14F-4D97-AF65-F5344CB8AC3E}">
        <p14:creationId xmlns:p14="http://schemas.microsoft.com/office/powerpoint/2010/main" val="3614330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1E0D9-78D7-4CBD-AB93-2C0A2DB5F826}"/>
              </a:ext>
            </a:extLst>
          </p:cNvPr>
          <p:cNvSpPr>
            <a:spLocks noGrp="1"/>
          </p:cNvSpPr>
          <p:nvPr>
            <p:ph type="title"/>
          </p:nvPr>
        </p:nvSpPr>
        <p:spPr/>
        <p:txBody>
          <a:bodyPr/>
          <a:lstStyle/>
          <a:p>
            <a:r>
              <a:rPr lang="en-IN" dirty="0"/>
              <a:t>Project Objective</a:t>
            </a:r>
          </a:p>
        </p:txBody>
      </p:sp>
      <p:sp>
        <p:nvSpPr>
          <p:cNvPr id="3" name="Content Placeholder 2">
            <a:extLst>
              <a:ext uri="{FF2B5EF4-FFF2-40B4-BE49-F238E27FC236}">
                <a16:creationId xmlns:a16="http://schemas.microsoft.com/office/drawing/2014/main" id="{8445EF4A-72EC-4F62-B406-FBC9D7B5CF26}"/>
              </a:ext>
            </a:extLst>
          </p:cNvPr>
          <p:cNvSpPr>
            <a:spLocks noGrp="1"/>
          </p:cNvSpPr>
          <p:nvPr>
            <p:ph idx="1"/>
          </p:nvPr>
        </p:nvSpPr>
        <p:spPr/>
        <p:txBody>
          <a:bodyPr/>
          <a:lstStyle/>
          <a:p>
            <a:r>
              <a:rPr lang="en-US" dirty="0"/>
              <a:t>To clean and preprocess grocery sales data</a:t>
            </a:r>
          </a:p>
          <a:p>
            <a:r>
              <a:rPr lang="en-US" dirty="0"/>
              <a:t>To build a data model using Power Query</a:t>
            </a:r>
          </a:p>
          <a:p>
            <a:r>
              <a:rPr lang="en-IN" dirty="0"/>
              <a:t>To </a:t>
            </a:r>
            <a:r>
              <a:rPr lang="en-IN" dirty="0" err="1"/>
              <a:t>analyze</a:t>
            </a:r>
            <a:r>
              <a:rPr lang="en-IN" dirty="0"/>
              <a:t> sales performance</a:t>
            </a:r>
          </a:p>
          <a:p>
            <a:r>
              <a:rPr lang="en-US" dirty="0"/>
              <a:t>To create an interactive dashboard</a:t>
            </a:r>
            <a:endParaRPr lang="en-IN" dirty="0"/>
          </a:p>
        </p:txBody>
      </p:sp>
    </p:spTree>
    <p:extLst>
      <p:ext uri="{BB962C8B-B14F-4D97-AF65-F5344CB8AC3E}">
        <p14:creationId xmlns:p14="http://schemas.microsoft.com/office/powerpoint/2010/main" val="41504754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DE3C6-8A5F-4D7B-B0D6-C22CDD681A4D}"/>
              </a:ext>
            </a:extLst>
          </p:cNvPr>
          <p:cNvSpPr>
            <a:spLocks noGrp="1"/>
          </p:cNvSpPr>
          <p:nvPr>
            <p:ph type="title"/>
          </p:nvPr>
        </p:nvSpPr>
        <p:spPr/>
        <p:txBody>
          <a:bodyPr/>
          <a:lstStyle/>
          <a:p>
            <a:r>
              <a:rPr lang="en-IN" dirty="0"/>
              <a:t>Dataset Description</a:t>
            </a:r>
          </a:p>
        </p:txBody>
      </p:sp>
      <p:sp>
        <p:nvSpPr>
          <p:cNvPr id="3" name="Content Placeholder 2">
            <a:extLst>
              <a:ext uri="{FF2B5EF4-FFF2-40B4-BE49-F238E27FC236}">
                <a16:creationId xmlns:a16="http://schemas.microsoft.com/office/drawing/2014/main" id="{2FCCE4F0-F7FB-44D4-B652-D305EE1C46B1}"/>
              </a:ext>
            </a:extLst>
          </p:cNvPr>
          <p:cNvSpPr>
            <a:spLocks noGrp="1"/>
          </p:cNvSpPr>
          <p:nvPr>
            <p:ph idx="1"/>
          </p:nvPr>
        </p:nvSpPr>
        <p:spPr/>
        <p:txBody>
          <a:bodyPr/>
          <a:lstStyle/>
          <a:p>
            <a:r>
              <a:rPr lang="en-US" dirty="0"/>
              <a:t>The data consist of  17 columns and 1980 rows</a:t>
            </a:r>
          </a:p>
          <a:p>
            <a:r>
              <a:rPr lang="en-US" dirty="0"/>
              <a:t>Columns : customer id, store name, transaction date, month Name, year, quarter, category, product name, quantity, unit price, total amount, discount amount, final amount, discount status, sales status, loyalty points, customer type</a:t>
            </a:r>
          </a:p>
          <a:p>
            <a:r>
              <a:rPr lang="en-US" dirty="0"/>
              <a:t>This dataset represents grocery sales transactions. It includes product-level details like product name and category, transaction details such as quantity and sales amount, discount information, and customer count. The data helps in understanding customer purchasing behavior, and overall business performance.</a:t>
            </a:r>
            <a:endParaRPr lang="en-IN" dirty="0"/>
          </a:p>
        </p:txBody>
      </p:sp>
    </p:spTree>
    <p:extLst>
      <p:ext uri="{BB962C8B-B14F-4D97-AF65-F5344CB8AC3E}">
        <p14:creationId xmlns:p14="http://schemas.microsoft.com/office/powerpoint/2010/main" val="3795399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62381-0C74-4A53-A118-452AD1E755E2}"/>
              </a:ext>
            </a:extLst>
          </p:cNvPr>
          <p:cNvSpPr>
            <a:spLocks noGrp="1"/>
          </p:cNvSpPr>
          <p:nvPr>
            <p:ph type="title"/>
          </p:nvPr>
        </p:nvSpPr>
        <p:spPr/>
        <p:txBody>
          <a:bodyPr/>
          <a:lstStyle/>
          <a:p>
            <a:r>
              <a:rPr lang="en-IN" dirty="0"/>
              <a:t>Data Cleaning Steps</a:t>
            </a:r>
          </a:p>
        </p:txBody>
      </p:sp>
      <p:sp>
        <p:nvSpPr>
          <p:cNvPr id="3" name="Content Placeholder 2">
            <a:extLst>
              <a:ext uri="{FF2B5EF4-FFF2-40B4-BE49-F238E27FC236}">
                <a16:creationId xmlns:a16="http://schemas.microsoft.com/office/drawing/2014/main" id="{D00AD718-5A16-4B95-8F38-84DA8926E8F8}"/>
              </a:ext>
            </a:extLst>
          </p:cNvPr>
          <p:cNvSpPr>
            <a:spLocks noGrp="1"/>
          </p:cNvSpPr>
          <p:nvPr>
            <p:ph idx="1"/>
          </p:nvPr>
        </p:nvSpPr>
        <p:spPr/>
        <p:txBody>
          <a:bodyPr/>
          <a:lstStyle/>
          <a:p>
            <a:r>
              <a:rPr lang="en-IN" dirty="0"/>
              <a:t>Replaced blank values</a:t>
            </a:r>
          </a:p>
          <a:p>
            <a:r>
              <a:rPr lang="en-US" dirty="0"/>
              <a:t>Corrected data types </a:t>
            </a:r>
          </a:p>
          <a:p>
            <a:r>
              <a:rPr lang="en-IN" dirty="0"/>
              <a:t>Removed negative final amounts</a:t>
            </a:r>
          </a:p>
          <a:p>
            <a:r>
              <a:rPr lang="en-IN" dirty="0"/>
              <a:t>Corrected category-product mapping</a:t>
            </a:r>
          </a:p>
          <a:p>
            <a:r>
              <a:rPr lang="en-IN" dirty="0"/>
              <a:t>Created Month, Year columns &amp; quarter column</a:t>
            </a:r>
          </a:p>
          <a:p>
            <a:r>
              <a:rPr lang="en-IN" dirty="0"/>
              <a:t>Created discount status and sales status columns</a:t>
            </a:r>
          </a:p>
          <a:p>
            <a:r>
              <a:rPr lang="en-IN" dirty="0"/>
              <a:t>Created customer type column</a:t>
            </a:r>
          </a:p>
          <a:p>
            <a:endParaRPr lang="en-IN" dirty="0"/>
          </a:p>
          <a:p>
            <a:endParaRPr lang="en-IN" dirty="0"/>
          </a:p>
        </p:txBody>
      </p:sp>
    </p:spTree>
    <p:extLst>
      <p:ext uri="{BB962C8B-B14F-4D97-AF65-F5344CB8AC3E}">
        <p14:creationId xmlns:p14="http://schemas.microsoft.com/office/powerpoint/2010/main" val="34346519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2FD92-D852-4023-96CE-B6FFEE337F6B}"/>
              </a:ext>
            </a:extLst>
          </p:cNvPr>
          <p:cNvSpPr>
            <a:spLocks noGrp="1"/>
          </p:cNvSpPr>
          <p:nvPr>
            <p:ph type="title"/>
          </p:nvPr>
        </p:nvSpPr>
        <p:spPr/>
        <p:txBody>
          <a:bodyPr/>
          <a:lstStyle/>
          <a:p>
            <a:r>
              <a:rPr lang="en-IN" dirty="0"/>
              <a:t>Data </a:t>
            </a:r>
            <a:r>
              <a:rPr lang="en-IN" dirty="0" err="1"/>
              <a:t>Modeling</a:t>
            </a:r>
            <a:endParaRPr lang="en-IN" dirty="0"/>
          </a:p>
        </p:txBody>
      </p:sp>
      <p:sp>
        <p:nvSpPr>
          <p:cNvPr id="6" name="Content Placeholder 5">
            <a:extLst>
              <a:ext uri="{FF2B5EF4-FFF2-40B4-BE49-F238E27FC236}">
                <a16:creationId xmlns:a16="http://schemas.microsoft.com/office/drawing/2014/main" id="{D6596C61-D3CD-49A1-857C-CC112F843AEE}"/>
              </a:ext>
            </a:extLst>
          </p:cNvPr>
          <p:cNvSpPr>
            <a:spLocks noGrp="1"/>
          </p:cNvSpPr>
          <p:nvPr>
            <p:ph idx="1"/>
          </p:nvPr>
        </p:nvSpPr>
        <p:spPr/>
        <p:txBody>
          <a:bodyPr/>
          <a:lstStyle/>
          <a:p>
            <a:r>
              <a:rPr lang="en-US" dirty="0"/>
              <a:t>Just created a sperate date table which contain detailed transaction details</a:t>
            </a:r>
          </a:p>
          <a:p>
            <a:r>
              <a:rPr lang="en-US" dirty="0"/>
              <a:t>Created a relation between grocery sales data and date table</a:t>
            </a:r>
            <a:endParaRPr lang="en-IN" dirty="0"/>
          </a:p>
        </p:txBody>
      </p:sp>
      <p:pic>
        <p:nvPicPr>
          <p:cNvPr id="7" name="Picture 6">
            <a:extLst>
              <a:ext uri="{FF2B5EF4-FFF2-40B4-BE49-F238E27FC236}">
                <a16:creationId xmlns:a16="http://schemas.microsoft.com/office/drawing/2014/main" id="{1605394D-FA3F-48D2-80AB-33714A292DBE}"/>
              </a:ext>
            </a:extLst>
          </p:cNvPr>
          <p:cNvPicPr>
            <a:picLocks noChangeAspect="1"/>
          </p:cNvPicPr>
          <p:nvPr/>
        </p:nvPicPr>
        <p:blipFill>
          <a:blip r:embed="rId2"/>
          <a:stretch>
            <a:fillRect/>
          </a:stretch>
        </p:blipFill>
        <p:spPr>
          <a:xfrm>
            <a:off x="7229503" y="3650974"/>
            <a:ext cx="3053243" cy="1705605"/>
          </a:xfrm>
          <a:prstGeom prst="rect">
            <a:avLst/>
          </a:prstGeom>
        </p:spPr>
      </p:pic>
    </p:spTree>
    <p:extLst>
      <p:ext uri="{BB962C8B-B14F-4D97-AF65-F5344CB8AC3E}">
        <p14:creationId xmlns:p14="http://schemas.microsoft.com/office/powerpoint/2010/main" val="20095404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D979B-558B-4513-801C-C4910ECF717E}"/>
              </a:ext>
            </a:extLst>
          </p:cNvPr>
          <p:cNvSpPr>
            <a:spLocks noGrp="1"/>
          </p:cNvSpPr>
          <p:nvPr>
            <p:ph type="title"/>
          </p:nvPr>
        </p:nvSpPr>
        <p:spPr/>
        <p:txBody>
          <a:bodyPr/>
          <a:lstStyle/>
          <a:p>
            <a:r>
              <a:rPr lang="en-IN" dirty="0"/>
              <a:t>Dashboard Overview</a:t>
            </a:r>
          </a:p>
        </p:txBody>
      </p:sp>
      <p:sp>
        <p:nvSpPr>
          <p:cNvPr id="3" name="Content Placeholder 2">
            <a:extLst>
              <a:ext uri="{FF2B5EF4-FFF2-40B4-BE49-F238E27FC236}">
                <a16:creationId xmlns:a16="http://schemas.microsoft.com/office/drawing/2014/main" id="{73644EFC-AB1A-4D62-8D44-060CC7EEA4AE}"/>
              </a:ext>
            </a:extLst>
          </p:cNvPr>
          <p:cNvSpPr>
            <a:spLocks noGrp="1"/>
          </p:cNvSpPr>
          <p:nvPr>
            <p:ph idx="1"/>
          </p:nvPr>
        </p:nvSpPr>
        <p:spPr>
          <a:xfrm>
            <a:off x="2146852" y="1643270"/>
            <a:ext cx="9357760" cy="4267952"/>
          </a:xfrm>
        </p:spPr>
        <p:txBody>
          <a:bodyPr>
            <a:normAutofit/>
          </a:bodyPr>
          <a:lstStyle/>
          <a:p>
            <a:r>
              <a:rPr lang="en-US" dirty="0"/>
              <a:t>Added card visuals of total sales, total customers, total quantity, total discount</a:t>
            </a:r>
          </a:p>
          <a:p>
            <a:r>
              <a:rPr lang="en-US" dirty="0"/>
              <a:t>Added a line chart to find the total sales over time</a:t>
            </a:r>
          </a:p>
          <a:p>
            <a:r>
              <a:rPr lang="en-US" dirty="0"/>
              <a:t>Funnel chart to </a:t>
            </a:r>
            <a:r>
              <a:rPr lang="en-US" dirty="0" err="1"/>
              <a:t>analysze</a:t>
            </a:r>
            <a:r>
              <a:rPr lang="en-US" dirty="0"/>
              <a:t> sales by category</a:t>
            </a:r>
          </a:p>
          <a:p>
            <a:r>
              <a:rPr lang="en-US" dirty="0"/>
              <a:t>Clustered column chart can analysis sales by stores</a:t>
            </a:r>
          </a:p>
          <a:p>
            <a:r>
              <a:rPr lang="en-US" dirty="0"/>
              <a:t>Discount status analyze through pie chart</a:t>
            </a:r>
          </a:p>
          <a:p>
            <a:r>
              <a:rPr lang="en-US" dirty="0"/>
              <a:t>Added donut chart to analyze customer type</a:t>
            </a:r>
          </a:p>
          <a:p>
            <a:r>
              <a:rPr lang="en-US" dirty="0"/>
              <a:t>Slicers can connect all pages and easily analyze the data</a:t>
            </a:r>
          </a:p>
          <a:p>
            <a:r>
              <a:rPr lang="en-US" dirty="0"/>
              <a:t>The dashboard provides a complete overview of business performance. It summarizes revenue, customer activity, discount impact, and product performance in one place. It helps management make data-driven decisions quickly and efficiently.</a:t>
            </a:r>
            <a:endParaRPr lang="en-IN" dirty="0"/>
          </a:p>
        </p:txBody>
      </p:sp>
    </p:spTree>
    <p:extLst>
      <p:ext uri="{BB962C8B-B14F-4D97-AF65-F5344CB8AC3E}">
        <p14:creationId xmlns:p14="http://schemas.microsoft.com/office/powerpoint/2010/main" val="40877104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FA709-391A-4B56-8936-41A0EEEDB2AC}"/>
              </a:ext>
            </a:extLst>
          </p:cNvPr>
          <p:cNvSpPr>
            <a:spLocks noGrp="1"/>
          </p:cNvSpPr>
          <p:nvPr>
            <p:ph type="title"/>
          </p:nvPr>
        </p:nvSpPr>
        <p:spPr/>
        <p:txBody>
          <a:bodyPr/>
          <a:lstStyle/>
          <a:p>
            <a:r>
              <a:rPr lang="en-IN" dirty="0"/>
              <a:t> Insights</a:t>
            </a:r>
          </a:p>
        </p:txBody>
      </p:sp>
      <p:sp>
        <p:nvSpPr>
          <p:cNvPr id="3" name="Content Placeholder 2">
            <a:extLst>
              <a:ext uri="{FF2B5EF4-FFF2-40B4-BE49-F238E27FC236}">
                <a16:creationId xmlns:a16="http://schemas.microsoft.com/office/drawing/2014/main" id="{21AD00AD-4F87-40FB-9606-108A790CA342}"/>
              </a:ext>
            </a:extLst>
          </p:cNvPr>
          <p:cNvSpPr>
            <a:spLocks noGrp="1"/>
          </p:cNvSpPr>
          <p:nvPr>
            <p:ph idx="1"/>
          </p:nvPr>
        </p:nvSpPr>
        <p:spPr/>
        <p:txBody>
          <a:bodyPr/>
          <a:lstStyle/>
          <a:p>
            <a:r>
              <a:rPr lang="en-US" dirty="0"/>
              <a:t>Customers purchase approximately 3 items per transaction.</a:t>
            </a:r>
          </a:p>
          <a:p>
            <a:r>
              <a:rPr lang="en-US" dirty="0"/>
              <a:t>The average revenue generated per item sold is approximately 14, indicating mid-range pricing across the product mix.</a:t>
            </a:r>
          </a:p>
          <a:p>
            <a:r>
              <a:rPr lang="en-US" dirty="0"/>
              <a:t>Revenue growth currently depends more on increasing customer spending rather than increasing customer count.</a:t>
            </a:r>
          </a:p>
          <a:p>
            <a:r>
              <a:rPr lang="en-US" dirty="0"/>
              <a:t>If discount percentage increases further, profit margins may decline significantly.</a:t>
            </a:r>
          </a:p>
          <a:p>
            <a:r>
              <a:rPr lang="en-US" dirty="0"/>
              <a:t>Produce are contributing more than other category</a:t>
            </a:r>
          </a:p>
          <a:p>
            <a:endParaRPr lang="en-IN" dirty="0"/>
          </a:p>
        </p:txBody>
      </p:sp>
    </p:spTree>
    <p:extLst>
      <p:ext uri="{BB962C8B-B14F-4D97-AF65-F5344CB8AC3E}">
        <p14:creationId xmlns:p14="http://schemas.microsoft.com/office/powerpoint/2010/main" val="28262815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57138-FF65-4CB5-9F8F-F7A0EA82B63D}"/>
              </a:ext>
            </a:extLst>
          </p:cNvPr>
          <p:cNvSpPr>
            <a:spLocks noGrp="1"/>
          </p:cNvSpPr>
          <p:nvPr>
            <p:ph type="title"/>
          </p:nvPr>
        </p:nvSpPr>
        <p:spPr/>
        <p:txBody>
          <a:bodyPr/>
          <a:lstStyle/>
          <a:p>
            <a:r>
              <a:rPr lang="en-US" dirty="0"/>
              <a:t>Business suggestions</a:t>
            </a:r>
            <a:br>
              <a:rPr lang="en-US" dirty="0"/>
            </a:br>
            <a:endParaRPr lang="en-IN" dirty="0"/>
          </a:p>
        </p:txBody>
      </p:sp>
      <p:sp>
        <p:nvSpPr>
          <p:cNvPr id="3" name="Content Placeholder 2">
            <a:extLst>
              <a:ext uri="{FF2B5EF4-FFF2-40B4-BE49-F238E27FC236}">
                <a16:creationId xmlns:a16="http://schemas.microsoft.com/office/drawing/2014/main" id="{0A2212D9-9ECE-4445-9921-2468BE1994C9}"/>
              </a:ext>
            </a:extLst>
          </p:cNvPr>
          <p:cNvSpPr>
            <a:spLocks noGrp="1"/>
          </p:cNvSpPr>
          <p:nvPr>
            <p:ph idx="1"/>
          </p:nvPr>
        </p:nvSpPr>
        <p:spPr/>
        <p:txBody>
          <a:bodyPr/>
          <a:lstStyle/>
          <a:p>
            <a:r>
              <a:rPr lang="en-US" dirty="0"/>
              <a:t>Increase basket size through bundle, cross selling, combo discount</a:t>
            </a:r>
          </a:p>
          <a:p>
            <a:r>
              <a:rPr lang="en-IN" dirty="0"/>
              <a:t>Upsell premium products, Introduce loyalty rewards,</a:t>
            </a:r>
            <a:r>
              <a:rPr lang="en-US" dirty="0"/>
              <a:t> Offer threshold discounts (e.g., spend 60 get 5 off)</a:t>
            </a:r>
          </a:p>
          <a:p>
            <a:r>
              <a:rPr lang="en-US" dirty="0"/>
              <a:t>Apply targeted discounts instead of general discounts</a:t>
            </a:r>
          </a:p>
          <a:p>
            <a:r>
              <a:rPr lang="en-IN" dirty="0"/>
              <a:t>Promote high-margin products</a:t>
            </a:r>
          </a:p>
          <a:p>
            <a:r>
              <a:rPr lang="en-IN" dirty="0"/>
              <a:t>Send personalized offers</a:t>
            </a:r>
          </a:p>
          <a:p>
            <a:r>
              <a:rPr lang="en-US" dirty="0"/>
              <a:t>Offer rewards for repeat purchases</a:t>
            </a:r>
          </a:p>
          <a:p>
            <a:r>
              <a:rPr lang="en-US" dirty="0"/>
              <a:t>By increasing basket size and optimizing discount strategies, the business can improve both revenue and profitability while maintaining customer satisfaction.</a:t>
            </a:r>
          </a:p>
          <a:p>
            <a:endParaRPr lang="en-US" dirty="0"/>
          </a:p>
          <a:p>
            <a:endParaRPr lang="en-US" dirty="0"/>
          </a:p>
          <a:p>
            <a:endParaRPr lang="en-US" dirty="0"/>
          </a:p>
          <a:p>
            <a:endParaRPr lang="en-IN" dirty="0"/>
          </a:p>
        </p:txBody>
      </p:sp>
    </p:spTree>
    <p:extLst>
      <p:ext uri="{BB962C8B-B14F-4D97-AF65-F5344CB8AC3E}">
        <p14:creationId xmlns:p14="http://schemas.microsoft.com/office/powerpoint/2010/main" val="33510585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6FD5E-0006-44F5-B657-957A255CF087}"/>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6E6C251F-2FA1-4FF4-816A-C37E722B0C5D}"/>
              </a:ext>
            </a:extLst>
          </p:cNvPr>
          <p:cNvSpPr>
            <a:spLocks noGrp="1"/>
          </p:cNvSpPr>
          <p:nvPr>
            <p:ph idx="1"/>
          </p:nvPr>
        </p:nvSpPr>
        <p:spPr/>
        <p:txBody>
          <a:bodyPr/>
          <a:lstStyle/>
          <a:p>
            <a:r>
              <a:rPr lang="en-US" dirty="0"/>
              <a:t>The analysis shows stable sales performance with moderate customer spending. However, there is strong opportunity to increase revenue by improving basket size and optimizing discount strategies. The dashboard helps management make informed decisions based on data. This project demonstrates how data cleaning, modeling, and visualization can transform raw data into meaningful business insights.</a:t>
            </a:r>
            <a:endParaRPr lang="en-IN" dirty="0"/>
          </a:p>
        </p:txBody>
      </p:sp>
    </p:spTree>
    <p:extLst>
      <p:ext uri="{BB962C8B-B14F-4D97-AF65-F5344CB8AC3E}">
        <p14:creationId xmlns:p14="http://schemas.microsoft.com/office/powerpoint/2010/main" val="7105413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22A05-57C5-4BFD-8EC9-8BE8BA1CEE60}"/>
              </a:ext>
            </a:extLst>
          </p:cNvPr>
          <p:cNvSpPr>
            <a:spLocks noGrp="1"/>
          </p:cNvSpPr>
          <p:nvPr>
            <p:ph type="title"/>
          </p:nvPr>
        </p:nvSpPr>
        <p:spPr>
          <a:xfrm>
            <a:off x="3755403" y="2611936"/>
            <a:ext cx="8911687" cy="1280890"/>
          </a:xfrm>
        </p:spPr>
        <p:txBody>
          <a:bodyPr/>
          <a:lstStyle/>
          <a:p>
            <a:r>
              <a:rPr lang="en-US" dirty="0"/>
              <a:t>Thankyou……</a:t>
            </a:r>
            <a:br>
              <a:rPr lang="en-US" dirty="0"/>
            </a:br>
            <a:endParaRPr lang="en-IN" dirty="0"/>
          </a:p>
        </p:txBody>
      </p:sp>
      <p:sp>
        <p:nvSpPr>
          <p:cNvPr id="3" name="Content Placeholder 2">
            <a:extLst>
              <a:ext uri="{FF2B5EF4-FFF2-40B4-BE49-F238E27FC236}">
                <a16:creationId xmlns:a16="http://schemas.microsoft.com/office/drawing/2014/main" id="{2590688A-7AD9-49D2-9C1D-BB6DFC036621}"/>
              </a:ext>
            </a:extLst>
          </p:cNvPr>
          <p:cNvSpPr>
            <a:spLocks noGrp="1"/>
          </p:cNvSpPr>
          <p:nvPr>
            <p:ph idx="1"/>
          </p:nvPr>
        </p:nvSpPr>
        <p:spPr>
          <a:xfrm flipV="1">
            <a:off x="2589212" y="5911222"/>
            <a:ext cx="8915400" cy="322668"/>
          </a:xfrm>
        </p:spPr>
        <p:txBody>
          <a:bodyPr>
            <a:normAutofit fontScale="47500" lnSpcReduction="20000"/>
          </a:bodyPr>
          <a:lstStyle/>
          <a:p>
            <a:pPr marL="0" indent="0">
              <a:buNone/>
            </a:pPr>
            <a:br>
              <a:rPr lang="en-US" dirty="0"/>
            </a:br>
            <a:endParaRPr lang="en-IN" dirty="0"/>
          </a:p>
        </p:txBody>
      </p:sp>
    </p:spTree>
    <p:extLst>
      <p:ext uri="{BB962C8B-B14F-4D97-AF65-F5344CB8AC3E}">
        <p14:creationId xmlns:p14="http://schemas.microsoft.com/office/powerpoint/2010/main" val="865198518"/>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169</TotalTime>
  <Words>505</Words>
  <Application>Microsoft Office PowerPoint</Application>
  <PresentationFormat>Widescreen</PresentationFormat>
  <Paragraphs>51</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Century Gothic</vt:lpstr>
      <vt:lpstr>Wingdings 3</vt:lpstr>
      <vt:lpstr>Wisp</vt:lpstr>
      <vt:lpstr>Grocery Sales Data Analysis Dashboard</vt:lpstr>
      <vt:lpstr>Project Objective</vt:lpstr>
      <vt:lpstr>Dataset Description</vt:lpstr>
      <vt:lpstr>Data Cleaning Steps</vt:lpstr>
      <vt:lpstr>Data Modeling</vt:lpstr>
      <vt:lpstr>Dashboard Overview</vt:lpstr>
      <vt:lpstr> Insights</vt:lpstr>
      <vt:lpstr>Business suggestions </vt:lpstr>
      <vt:lpstr>Conclusion</vt:lpstr>
      <vt:lpstr>Thankyou……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asdf</dc:creator>
  <cp:lastModifiedBy>asdf</cp:lastModifiedBy>
  <cp:revision>12</cp:revision>
  <dcterms:created xsi:type="dcterms:W3CDTF">2026-02-25T13:02:04Z</dcterms:created>
  <dcterms:modified xsi:type="dcterms:W3CDTF">2026-02-25T16:34:33Z</dcterms:modified>
</cp:coreProperties>
</file>